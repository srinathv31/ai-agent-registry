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A4C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6858000" y="-274320"/>
            <a:ext cx="3200400" cy="1463040"/>
          </a:xfrm>
          <a:prstGeom prst="rect">
            <a:avLst/>
          </a:prstGeom>
          <a:solidFill>
            <a:srgbClr val="E6F5ED"/>
          </a:solidFill>
          <a:ln/>
        </p:spPr>
      </p:sp>
      <p:sp>
        <p:nvSpPr>
          <p:cNvPr id="4" name="Shape 2"/>
          <p:cNvSpPr/>
          <p:nvPr/>
        </p:nvSpPr>
        <p:spPr>
          <a:xfrm rot="720000">
            <a:off x="7589520" y="-548640"/>
            <a:ext cx="2743200" cy="1097280"/>
          </a:xfrm>
          <a:prstGeom prst="rect">
            <a:avLst/>
          </a:prstGeom>
          <a:solidFill>
            <a:srgbClr val="F2FA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AI PLATFORM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645920" cy="54864"/>
          </a:xfrm>
          <a:prstGeom prst="rect">
            <a:avLst/>
          </a:prstGeom>
          <a:solidFill>
            <a:srgbClr val="008A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AI Orchestration for the Enterprise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platform that enables any domain team to deploy AI-powered agents without building their own infrastructure — while maintaining full regulatory compliance, end-to-end observability, and centralized governance.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2377440" cy="1280160"/>
          </a:xfrm>
          <a:prstGeom prst="rect">
            <a:avLst/>
          </a:prstGeom>
          <a:solidFill>
            <a:srgbClr val="008A4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67588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9888" y="3639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Controls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PCI/PII compliance, policy enforcement, audit trail on every AI action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29000" y="3474720"/>
            <a:ext cx="2377440" cy="1280160"/>
          </a:xfrm>
          <a:prstGeom prst="rect">
            <a:avLst/>
          </a:prstGeom>
          <a:solidFill>
            <a:srgbClr val="008A4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6758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87368" y="3639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Observability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5760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visibility into AI inputs, outputs, reasoning, and decisions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3474720"/>
            <a:ext cx="2377440" cy="1280160"/>
          </a:xfrm>
          <a:prstGeom prst="rect">
            <a:avLst/>
          </a:prstGeom>
          <a:solidFill>
            <a:srgbClr val="008A4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67588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4848" y="3639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5508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deploy AI agents in days, not months — no new stack to learn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828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8A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201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Requests Flow Through the Platform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20240" y="914400"/>
            <a:ext cx="5303520" cy="621792"/>
          </a:xfrm>
          <a:prstGeom prst="rect">
            <a:avLst/>
          </a:prstGeom>
          <a:solidFill>
            <a:srgbClr val="2D343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08813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9692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OpenAI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60320" y="1225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/azure/ai/chat  —  LLM inference endpoint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920240" y="1819656"/>
            <a:ext cx="5303520" cy="914400"/>
          </a:xfrm>
          <a:prstGeom prst="rect">
            <a:avLst/>
          </a:prstGeom>
          <a:solidFill>
            <a:srgbClr val="008A4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1396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60320" y="19293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PLATFORM  (Our Team)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560320" y="22037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Audit  •  E2E Observability  •  Policy Enforcement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Validation  •  Human-in-the-Loop  •  Agent Chaining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752344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920240" y="3017520"/>
            <a:ext cx="5303520" cy="621792"/>
          </a:xfrm>
          <a:prstGeom prst="rect">
            <a:avLst/>
          </a:prstGeom>
          <a:solidFill>
            <a:srgbClr val="006B3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3191256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560320" y="30723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Proxy Endpoint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2560320" y="33284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/&lt;domain&gt;/ai/chat  —  Routed to registered domain service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657600"/>
            <a:ext cx="256032" cy="2560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1920240" y="3922776"/>
            <a:ext cx="5303520" cy="621792"/>
          </a:xfrm>
          <a:prstGeom prst="rect">
            <a:avLst/>
          </a:prstGeom>
          <a:solidFill>
            <a:srgbClr val="2D343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8840" y="4096512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560320" y="3977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Teams  (Any Language / Stack)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2560320" y="4233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 •  Production Support  •  Fraud  •  Loans  •  Core Banking</a:t>
            </a:r>
            <a:endParaRPr lang="en-US" sz="950" dirty="0"/>
          </a:p>
        </p:txBody>
      </p:sp>
      <p:sp>
        <p:nvSpPr>
          <p:cNvPr id="24" name="Shape 15"/>
          <p:cNvSpPr/>
          <p:nvPr/>
        </p:nvSpPr>
        <p:spPr>
          <a:xfrm>
            <a:off x="228600" y="3154680"/>
            <a:ext cx="1554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228600" y="3154680"/>
            <a:ext cx="54864" cy="1097280"/>
          </a:xfrm>
          <a:prstGeom prst="rect">
            <a:avLst/>
          </a:prstGeom>
          <a:solidFill>
            <a:srgbClr val="006B3A"/>
          </a:solidFill>
          <a:ln/>
        </p:spPr>
      </p:sp>
      <p:sp>
        <p:nvSpPr>
          <p:cNvPr id="26" name="Text 17"/>
          <p:cNvSpPr/>
          <p:nvPr/>
        </p:nvSpPr>
        <p:spPr>
          <a:xfrm>
            <a:off x="411480" y="32095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 Bring: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411480" y="3502152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config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7452360" y="1463040"/>
            <a:ext cx="1508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8906256" y="1463040"/>
            <a:ext cx="54864" cy="2103120"/>
          </a:xfrm>
          <a:prstGeom prst="rect">
            <a:avLst/>
          </a:prstGeom>
          <a:solidFill>
            <a:srgbClr val="008A4C"/>
          </a:solidFill>
          <a:ln/>
        </p:spPr>
      </p:sp>
      <p:sp>
        <p:nvSpPr>
          <p:cNvPr id="30" name="Text 21"/>
          <p:cNvSpPr/>
          <p:nvPr/>
        </p:nvSpPr>
        <p:spPr>
          <a:xfrm>
            <a:off x="7589520" y="1517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Provides: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7589520" y="1810512"/>
            <a:ext cx="1280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controls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chaining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switches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8A4C"/>
          </a:solidFill>
          <a:ln/>
        </p:spPr>
      </p:sp>
      <p:sp>
        <p:nvSpPr>
          <p:cNvPr id="33" name="Text 24"/>
          <p:cNvSpPr/>
          <p:nvPr/>
        </p:nvSpPr>
        <p:spPr>
          <a:xfrm>
            <a:off x="731520" y="4828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A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841248"/>
            <a:ext cx="1371600" cy="45720"/>
          </a:xfrm>
          <a:prstGeom prst="rect">
            <a:avLst/>
          </a:prstGeom>
          <a:solidFill>
            <a:srgbClr val="008A4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840480" cy="2423160"/>
          </a:xfrm>
          <a:prstGeom prst="rect">
            <a:avLst/>
          </a:prstGeom>
          <a:solidFill>
            <a:srgbClr val="FFF4E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005840"/>
            <a:ext cx="4297680" cy="2423160"/>
          </a:xfrm>
          <a:prstGeom prst="rect">
            <a:avLst/>
          </a:prstGeom>
          <a:solidFill>
            <a:srgbClr val="E6F5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THE PLATFORM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417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builds their own AI stack from scratch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0136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783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must learn Node.js, MCP, and AI SDK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712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148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logging — no centralized audit trail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3288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guardrails or regulatory controls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98648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2880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AI decision-making across org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64408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setup before any AI agent goes live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7548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THE PLATFORM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435608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74920" y="1417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Self-service: register config, deploy in days</a:t>
            </a:r>
            <a:endParaRPr lang="en-US" sz="11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801368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74920" y="1783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 — Java, Python, Go, .NET. No retraining.</a:t>
            </a:r>
            <a:endParaRPr lang="en-US" sz="11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2167128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74920" y="2148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audit trail on every AI action, centralized</a:t>
            </a:r>
            <a:endParaRPr lang="en-US" sz="11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2532888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074920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guardrails enforced at the gateway</a:t>
            </a:r>
            <a:endParaRPr lang="en-US" sz="11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2898648"/>
            <a:ext cx="182880" cy="18288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074920" y="2880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visibility: inputs, outputs, reasoning, controls</a:t>
            </a:r>
            <a:endParaRPr lang="en-US" sz="11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3264408"/>
            <a:ext cx="182880" cy="18288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074920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exists — just bring your business logic</a:t>
            </a:r>
            <a:endParaRPr lang="en-US" sz="1100" dirty="0"/>
          </a:p>
        </p:txBody>
      </p:sp>
      <p:sp>
        <p:nvSpPr>
          <p:cNvPr id="33" name="Shape 19"/>
          <p:cNvSpPr/>
          <p:nvPr/>
        </p:nvSpPr>
        <p:spPr>
          <a:xfrm>
            <a:off x="4480560" y="1097280"/>
            <a:ext cx="0" cy="2286000"/>
          </a:xfrm>
          <a:prstGeom prst="line">
            <a:avLst/>
          </a:prstGeom>
          <a:noFill/>
          <a:ln w="19050">
            <a:solidFill>
              <a:srgbClr val="E2E5E3"/>
            </a:solidFill>
            <a:prstDash val="solid"/>
          </a:ln>
        </p:spPr>
      </p:sp>
      <p:sp>
        <p:nvSpPr>
          <p:cNvPr id="34" name="Shape 20"/>
          <p:cNvSpPr/>
          <p:nvPr/>
        </p:nvSpPr>
        <p:spPr>
          <a:xfrm>
            <a:off x="731520" y="361188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1"/>
          <p:cNvSpPr/>
          <p:nvPr/>
        </p:nvSpPr>
        <p:spPr>
          <a:xfrm>
            <a:off x="731520" y="3611880"/>
            <a:ext cx="54864" cy="868680"/>
          </a:xfrm>
          <a:prstGeom prst="rect">
            <a:avLst/>
          </a:prstGeom>
          <a:solidFill>
            <a:srgbClr val="008A4C"/>
          </a:solidFill>
          <a:ln/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" y="3749040"/>
            <a:ext cx="274320" cy="27432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1298448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Chaining</a:t>
            </a:r>
            <a:endParaRPr lang="en-US" sz="1100" dirty="0"/>
          </a:p>
        </p:txBody>
      </p:sp>
      <p:sp>
        <p:nvSpPr>
          <p:cNvPr id="38" name="Text 23"/>
          <p:cNvSpPr/>
          <p:nvPr/>
        </p:nvSpPr>
        <p:spPr>
          <a:xfrm>
            <a:off x="932688" y="4087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AI agents together for full end-to-end workflows across domains</a:t>
            </a:r>
            <a:endParaRPr lang="en-US" sz="900" dirty="0"/>
          </a:p>
        </p:txBody>
      </p:sp>
      <p:sp>
        <p:nvSpPr>
          <p:cNvPr id="39" name="Shape 24"/>
          <p:cNvSpPr/>
          <p:nvPr/>
        </p:nvSpPr>
        <p:spPr>
          <a:xfrm>
            <a:off x="3474720" y="361188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25"/>
          <p:cNvSpPr/>
          <p:nvPr/>
        </p:nvSpPr>
        <p:spPr>
          <a:xfrm>
            <a:off x="3474720" y="3611880"/>
            <a:ext cx="54864" cy="868680"/>
          </a:xfrm>
          <a:prstGeom prst="rect">
            <a:avLst/>
          </a:prstGeom>
          <a:solidFill>
            <a:srgbClr val="008A4C"/>
          </a:solidFill>
          <a:ln/>
        </p:spPr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75888" y="3749040"/>
            <a:ext cx="274320" cy="274320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4041648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Cross-Domain Learning</a:t>
            </a:r>
            <a:endParaRPr lang="en-US" sz="1100" dirty="0"/>
          </a:p>
        </p:txBody>
      </p:sp>
      <p:sp>
        <p:nvSpPr>
          <p:cNvPr id="43" name="Text 27"/>
          <p:cNvSpPr/>
          <p:nvPr/>
        </p:nvSpPr>
        <p:spPr>
          <a:xfrm>
            <a:off x="3675888" y="4087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improves over time — learning from results and outputs to self-correct</a:t>
            </a:r>
            <a:endParaRPr lang="en-US" sz="900" dirty="0"/>
          </a:p>
        </p:txBody>
      </p:sp>
      <p:sp>
        <p:nvSpPr>
          <p:cNvPr id="44" name="Shape 28"/>
          <p:cNvSpPr/>
          <p:nvPr/>
        </p:nvSpPr>
        <p:spPr>
          <a:xfrm>
            <a:off x="6217920" y="361188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29"/>
          <p:cNvSpPr/>
          <p:nvPr/>
        </p:nvSpPr>
        <p:spPr>
          <a:xfrm>
            <a:off x="6217920" y="3611880"/>
            <a:ext cx="54864" cy="868680"/>
          </a:xfrm>
          <a:prstGeom prst="rect">
            <a:avLst/>
          </a:prstGeom>
          <a:solidFill>
            <a:srgbClr val="008A4C"/>
          </a:solidFill>
          <a:ln/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9088" y="3749040"/>
            <a:ext cx="274320" cy="27432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784848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Reusability at Scale</a:t>
            </a:r>
            <a:endParaRPr lang="en-US" sz="1100" dirty="0"/>
          </a:p>
        </p:txBody>
      </p:sp>
      <p:sp>
        <p:nvSpPr>
          <p:cNvPr id="48" name="Text 31"/>
          <p:cNvSpPr/>
          <p:nvPr/>
        </p:nvSpPr>
        <p:spPr>
          <a:xfrm>
            <a:off x="6419088" y="4087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reuse everywhere — every team benefits from shared platform</a:t>
            </a:r>
            <a:endParaRPr lang="en-US" sz="900" dirty="0"/>
          </a:p>
        </p:txBody>
      </p:sp>
      <p:sp>
        <p:nvSpPr>
          <p:cNvPr id="49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50" name="Text 33"/>
          <p:cNvSpPr/>
          <p:nvPr/>
        </p:nvSpPr>
        <p:spPr>
          <a:xfrm>
            <a:off x="731520" y="4828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Platform — Executive Overview</dc:title>
  <dc:subject>PptxGenJS Presentation</dc:subject>
  <dc:creator>AI Platform Team</dc:creator>
  <cp:lastModifiedBy>AI Platform Team</cp:lastModifiedBy>
  <cp:revision>1</cp:revision>
  <dcterms:created xsi:type="dcterms:W3CDTF">2026-03-03T19:26:21Z</dcterms:created>
  <dcterms:modified xsi:type="dcterms:W3CDTF">2026-03-03T19:26:21Z</dcterms:modified>
</cp:coreProperties>
</file>